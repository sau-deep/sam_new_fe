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9" r:id="rId3"/>
    <p:sldId id="320" r:id="rId4"/>
    <p:sldId id="321" r:id="rId5"/>
    <p:sldId id="326" r:id="rId6"/>
    <p:sldId id="322" r:id="rId7"/>
    <p:sldId id="258" r:id="rId8"/>
    <p:sldId id="323" r:id="rId9"/>
    <p:sldId id="324" r:id="rId10"/>
    <p:sldId id="325" r:id="rId11"/>
    <p:sldId id="329" r:id="rId12"/>
    <p:sldId id="327" r:id="rId13"/>
    <p:sldId id="319" r:id="rId14"/>
  </p:sldIdLst>
  <p:sldSz cx="18288000" cy="10287000"/>
  <p:notesSz cx="6858000" cy="9144000"/>
  <p:embeddedFontLst>
    <p:embeddedFont>
      <p:font typeface="Alice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4654" autoAdjust="0"/>
  </p:normalViewPr>
  <p:slideViewPr>
    <p:cSldViewPr>
      <p:cViewPr varScale="1">
        <p:scale>
          <a:sx n="52" d="100"/>
          <a:sy n="52" d="100"/>
        </p:scale>
        <p:origin x="850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fif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fif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fif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459113" y="4152900"/>
            <a:ext cx="17369773" cy="1758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8"/>
              </a:lnSpc>
            </a:pPr>
            <a:r>
              <a:rPr lang="en-US" sz="8800" dirty="0">
                <a:solidFill>
                  <a:srgbClr val="FFDE59"/>
                </a:solidFill>
                <a:latin typeface="Alice"/>
                <a:ea typeface="Alice"/>
                <a:cs typeface="Alice"/>
                <a:sym typeface="Alice"/>
              </a:rPr>
              <a:t>Mobile </a:t>
            </a:r>
            <a:r>
              <a:rPr lang="en-US" sz="8800" dirty="0" err="1">
                <a:solidFill>
                  <a:srgbClr val="FFDE59"/>
                </a:solidFill>
                <a:latin typeface="Alice"/>
                <a:ea typeface="Alice"/>
                <a:cs typeface="Alice"/>
                <a:sym typeface="Alice"/>
              </a:rPr>
              <a:t>SoP</a:t>
            </a:r>
            <a:r>
              <a:rPr lang="en-US" sz="8800" dirty="0">
                <a:solidFill>
                  <a:srgbClr val="FFDE59"/>
                </a:solidFill>
                <a:latin typeface="Alice"/>
                <a:ea typeface="Alice"/>
                <a:cs typeface="Alice"/>
                <a:sym typeface="Alice"/>
              </a:rPr>
              <a:t> for Routine Monitoring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3144500" y="4208318"/>
            <a:ext cx="10287000" cy="1870364"/>
          </a:xfrm>
          <a:custGeom>
            <a:avLst/>
            <a:gdLst/>
            <a:ahLst/>
            <a:cxnLst/>
            <a:rect l="l" t="t" r="r" b="b"/>
            <a:pathLst>
              <a:path w="10287000" h="1870364">
                <a:moveTo>
                  <a:pt x="0" y="0"/>
                </a:moveTo>
                <a:lnTo>
                  <a:pt x="10287000" y="0"/>
                </a:lnTo>
                <a:lnTo>
                  <a:pt x="10287000" y="1870364"/>
                </a:lnTo>
                <a:lnTo>
                  <a:pt x="0" y="18703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000500" y="9351818"/>
            <a:ext cx="10287000" cy="1870364"/>
          </a:xfrm>
          <a:custGeom>
            <a:avLst/>
            <a:gdLst/>
            <a:ahLst/>
            <a:cxnLst/>
            <a:rect l="l" t="t" r="r" b="b"/>
            <a:pathLst>
              <a:path w="10287000" h="1870364">
                <a:moveTo>
                  <a:pt x="0" y="0"/>
                </a:moveTo>
                <a:lnTo>
                  <a:pt x="10287000" y="0"/>
                </a:lnTo>
                <a:lnTo>
                  <a:pt x="10287000" y="1870364"/>
                </a:lnTo>
                <a:lnTo>
                  <a:pt x="0" y="18703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9402692" y="2654102"/>
            <a:ext cx="6002896" cy="85776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Click on the link provided to you by your admin</a:t>
            </a:r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.</a:t>
            </a: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Clicking on this link will take you to the login page.</a:t>
            </a: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>
                  <a:lumMod val="95000"/>
                </a:schemeClr>
              </a:solidFill>
              <a:latin typeface="Alice" panose="020B0604020202020204" charset="0"/>
            </a:endParaRP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After login, kindly check the version of  the app at the end of the page. Please update the app to it’s latest version if required.</a:t>
            </a: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>
                  <a:lumMod val="95000"/>
                </a:schemeClr>
              </a:solidFill>
              <a:latin typeface="Alice" panose="020B0604020202020204" charset="0"/>
            </a:endParaRP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dirty="0"/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FFF8EF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FFF8EF"/>
              </a:solidFill>
              <a:latin typeface="Alice"/>
              <a:ea typeface="Alice"/>
              <a:cs typeface="Alice"/>
              <a:sym typeface="Alice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397902" y="895350"/>
            <a:ext cx="15094421" cy="1127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86"/>
              </a:lnSpc>
            </a:pPr>
            <a:r>
              <a:rPr lang="en-US" sz="6561" dirty="0">
                <a:solidFill>
                  <a:srgbClr val="FFDE59"/>
                </a:solidFill>
                <a:latin typeface="Alice"/>
                <a:ea typeface="Alice"/>
                <a:cs typeface="Alice"/>
                <a:sym typeface="Alice"/>
              </a:rPr>
              <a:t>How to Open or Install App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DC78B7-3913-B4BE-7755-4ACC42FE1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806653"/>
            <a:ext cx="5975416" cy="22175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107436-7A23-70F4-BA77-D3A38C17E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47FAA0E-A834-04CB-436E-4F6E0AC19818}"/>
              </a:ext>
            </a:extLst>
          </p:cNvPr>
          <p:cNvSpPr/>
          <p:nvPr/>
        </p:nvSpPr>
        <p:spPr>
          <a:xfrm rot="5400000">
            <a:off x="13144500" y="4208318"/>
            <a:ext cx="10287000" cy="1870364"/>
          </a:xfrm>
          <a:custGeom>
            <a:avLst/>
            <a:gdLst/>
            <a:ahLst/>
            <a:cxnLst/>
            <a:rect l="l" t="t" r="r" b="b"/>
            <a:pathLst>
              <a:path w="10287000" h="1870364">
                <a:moveTo>
                  <a:pt x="0" y="0"/>
                </a:moveTo>
                <a:lnTo>
                  <a:pt x="10287000" y="0"/>
                </a:lnTo>
                <a:lnTo>
                  <a:pt x="10287000" y="1870364"/>
                </a:lnTo>
                <a:lnTo>
                  <a:pt x="0" y="18703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DA0F69A-35DC-CB99-8893-F17E81CA8AFC}"/>
              </a:ext>
            </a:extLst>
          </p:cNvPr>
          <p:cNvSpPr/>
          <p:nvPr/>
        </p:nvSpPr>
        <p:spPr>
          <a:xfrm>
            <a:off x="4000500" y="9351818"/>
            <a:ext cx="10287000" cy="1870364"/>
          </a:xfrm>
          <a:custGeom>
            <a:avLst/>
            <a:gdLst/>
            <a:ahLst/>
            <a:cxnLst/>
            <a:rect l="l" t="t" r="r" b="b"/>
            <a:pathLst>
              <a:path w="10287000" h="1870364">
                <a:moveTo>
                  <a:pt x="0" y="0"/>
                </a:moveTo>
                <a:lnTo>
                  <a:pt x="10287000" y="0"/>
                </a:lnTo>
                <a:lnTo>
                  <a:pt x="10287000" y="1870364"/>
                </a:lnTo>
                <a:lnTo>
                  <a:pt x="0" y="18703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D8C74ED-18CC-BD6C-99E7-59FC37CE49FC}"/>
              </a:ext>
            </a:extLst>
          </p:cNvPr>
          <p:cNvSpPr txBox="1"/>
          <p:nvPr/>
        </p:nvSpPr>
        <p:spPr>
          <a:xfrm>
            <a:off x="8686800" y="2781850"/>
            <a:ext cx="6002896" cy="75003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Enter the User Id and password provided to you by your admin in the login page.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Click the login button shown in the picture.</a:t>
            </a: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>
                  <a:lumMod val="95000"/>
                </a:schemeClr>
              </a:solidFill>
              <a:latin typeface="Alice" panose="020B0604020202020204" charset="0"/>
            </a:endParaRP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This will take you to the Questionnaire Selection page.</a:t>
            </a: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>
                  <a:lumMod val="95000"/>
                </a:schemeClr>
              </a:solidFill>
              <a:latin typeface="Alice" panose="020B0604020202020204" charset="0"/>
            </a:endParaRP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dirty="0"/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FFF8EF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FFF8EF"/>
              </a:solidFill>
              <a:latin typeface="Alice"/>
              <a:ea typeface="Alice"/>
              <a:cs typeface="Alice"/>
              <a:sym typeface="Alice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7A07C11-9C9A-312D-210A-04A3004364AC}"/>
              </a:ext>
            </a:extLst>
          </p:cNvPr>
          <p:cNvSpPr txBox="1"/>
          <p:nvPr/>
        </p:nvSpPr>
        <p:spPr>
          <a:xfrm>
            <a:off x="1397902" y="895350"/>
            <a:ext cx="15094421" cy="1127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86"/>
              </a:lnSpc>
            </a:pPr>
            <a:r>
              <a:rPr lang="en-US" sz="6561" dirty="0">
                <a:solidFill>
                  <a:srgbClr val="FFDE59"/>
                </a:solidFill>
                <a:latin typeface="Alice"/>
                <a:ea typeface="Alice"/>
                <a:cs typeface="Alice"/>
                <a:sym typeface="Alice"/>
              </a:rPr>
              <a:t>Login page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212EBB-E101-F58B-182C-8B638BE37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902" y="775937"/>
            <a:ext cx="3783698" cy="840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634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F9917A-08C8-63E1-B39B-CB3ECCE5D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BCA6280-0649-B826-B9EB-FDEC6119C8DB}"/>
              </a:ext>
            </a:extLst>
          </p:cNvPr>
          <p:cNvSpPr/>
          <p:nvPr/>
        </p:nvSpPr>
        <p:spPr>
          <a:xfrm rot="5400000">
            <a:off x="13144500" y="4208318"/>
            <a:ext cx="10287000" cy="1870364"/>
          </a:xfrm>
          <a:custGeom>
            <a:avLst/>
            <a:gdLst/>
            <a:ahLst/>
            <a:cxnLst/>
            <a:rect l="l" t="t" r="r" b="b"/>
            <a:pathLst>
              <a:path w="10287000" h="1870364">
                <a:moveTo>
                  <a:pt x="0" y="0"/>
                </a:moveTo>
                <a:lnTo>
                  <a:pt x="10287000" y="0"/>
                </a:lnTo>
                <a:lnTo>
                  <a:pt x="10287000" y="1870364"/>
                </a:lnTo>
                <a:lnTo>
                  <a:pt x="0" y="18703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280E92A-F0AF-C6E0-4975-A974F8C88356}"/>
              </a:ext>
            </a:extLst>
          </p:cNvPr>
          <p:cNvSpPr/>
          <p:nvPr/>
        </p:nvSpPr>
        <p:spPr>
          <a:xfrm>
            <a:off x="4000500" y="9351818"/>
            <a:ext cx="10287000" cy="1870364"/>
          </a:xfrm>
          <a:custGeom>
            <a:avLst/>
            <a:gdLst/>
            <a:ahLst/>
            <a:cxnLst/>
            <a:rect l="l" t="t" r="r" b="b"/>
            <a:pathLst>
              <a:path w="10287000" h="1870364">
                <a:moveTo>
                  <a:pt x="0" y="0"/>
                </a:moveTo>
                <a:lnTo>
                  <a:pt x="10287000" y="0"/>
                </a:lnTo>
                <a:lnTo>
                  <a:pt x="10287000" y="1870364"/>
                </a:lnTo>
                <a:lnTo>
                  <a:pt x="0" y="18703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D4452FC-FFCC-08E8-B6B1-6387D715CB65}"/>
              </a:ext>
            </a:extLst>
          </p:cNvPr>
          <p:cNvSpPr txBox="1"/>
          <p:nvPr/>
        </p:nvSpPr>
        <p:spPr>
          <a:xfrm>
            <a:off x="8265554" y="2247900"/>
            <a:ext cx="6002896" cy="803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Logging in will lead to the questionnaire selection page.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To fill the Routine Monitoring Questionnaire, click on the ‘Routine Monitoring’ box as shown in the picture.</a:t>
            </a: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>
                  <a:lumMod val="95000"/>
                </a:schemeClr>
              </a:solidFill>
              <a:latin typeface="Alice" panose="020B0604020202020204" charset="0"/>
            </a:endParaRP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This will take you to the Questionnaire.</a:t>
            </a: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>
                  <a:lumMod val="95000"/>
                </a:schemeClr>
              </a:solidFill>
              <a:latin typeface="Alice" panose="020B0604020202020204" charset="0"/>
            </a:endParaRP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dirty="0"/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FFF8EF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FFF8EF"/>
              </a:solidFill>
              <a:latin typeface="Alice"/>
              <a:ea typeface="Alice"/>
              <a:cs typeface="Alice"/>
              <a:sym typeface="Alice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AF872F0-05AA-99D9-EF08-5F4311396E89}"/>
              </a:ext>
            </a:extLst>
          </p:cNvPr>
          <p:cNvSpPr txBox="1"/>
          <p:nvPr/>
        </p:nvSpPr>
        <p:spPr>
          <a:xfrm>
            <a:off x="4634670" y="750324"/>
            <a:ext cx="12699098" cy="1091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86"/>
              </a:lnSpc>
            </a:pPr>
            <a:r>
              <a:rPr lang="en-US" sz="6561" dirty="0">
                <a:solidFill>
                  <a:srgbClr val="FFDE59"/>
                </a:solidFill>
                <a:latin typeface="Alice"/>
                <a:ea typeface="Alice"/>
                <a:cs typeface="Alice"/>
                <a:sym typeface="Alice"/>
              </a:rPr>
              <a:t>Questionnaire Selection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D2640A-DEA7-6780-6DD3-29C52DCECD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03"/>
          <a:stretch>
            <a:fillRect/>
          </a:stretch>
        </p:blipFill>
        <p:spPr>
          <a:xfrm>
            <a:off x="1066801" y="1219304"/>
            <a:ext cx="3810038" cy="8038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550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609179-87C1-D133-B386-8F02652EC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849AC5A-CED7-640F-6123-6CCDA3D130D3}"/>
              </a:ext>
            </a:extLst>
          </p:cNvPr>
          <p:cNvSpPr/>
          <p:nvPr/>
        </p:nvSpPr>
        <p:spPr>
          <a:xfrm rot="5400000">
            <a:off x="13144500" y="4208318"/>
            <a:ext cx="10287000" cy="1870364"/>
          </a:xfrm>
          <a:custGeom>
            <a:avLst/>
            <a:gdLst/>
            <a:ahLst/>
            <a:cxnLst/>
            <a:rect l="l" t="t" r="r" b="b"/>
            <a:pathLst>
              <a:path w="10287000" h="1870364">
                <a:moveTo>
                  <a:pt x="0" y="0"/>
                </a:moveTo>
                <a:lnTo>
                  <a:pt x="10287000" y="0"/>
                </a:lnTo>
                <a:lnTo>
                  <a:pt x="10287000" y="1870364"/>
                </a:lnTo>
                <a:lnTo>
                  <a:pt x="0" y="18703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0D605BE-DB7B-5C1C-AA98-B3CF39C30445}"/>
              </a:ext>
            </a:extLst>
          </p:cNvPr>
          <p:cNvSpPr txBox="1"/>
          <p:nvPr/>
        </p:nvSpPr>
        <p:spPr>
          <a:xfrm>
            <a:off x="2209800" y="266700"/>
            <a:ext cx="12699098" cy="1091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86"/>
              </a:lnSpc>
            </a:pPr>
            <a:r>
              <a:rPr lang="en-US" sz="6561" dirty="0">
                <a:solidFill>
                  <a:srgbClr val="FFDE59"/>
                </a:solidFill>
                <a:latin typeface="Alice"/>
                <a:ea typeface="Alice"/>
                <a:cs typeface="Alice"/>
                <a:sym typeface="Alice"/>
              </a:rPr>
              <a:t>Daily Count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5218C598-A6A7-1458-6AFB-586EA05AD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99" y="8877300"/>
            <a:ext cx="14363965" cy="1143000"/>
          </a:xfrm>
        </p:spPr>
        <p:txBody>
          <a:bodyPr>
            <a:normAutofit/>
          </a:bodyPr>
          <a:lstStyle/>
          <a:p>
            <a:pPr algn="l"/>
            <a:r>
              <a:rPr lang="en-IN" sz="2800" dirty="0">
                <a:solidFill>
                  <a:schemeClr val="bg1"/>
                </a:solidFill>
                <a:latin typeface="Alice" panose="020B0604020202020204" charset="0"/>
              </a:rPr>
              <a:t>Any surveyor can monitor their daily survey counts by clicking on the ‘Today’ button on the bottom left corner of the Routine Monitoring section.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D1EDF1-D3E9-9D09-D62A-B01B7F080F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394"/>
          <a:stretch>
            <a:fillRect/>
          </a:stretch>
        </p:blipFill>
        <p:spPr>
          <a:xfrm>
            <a:off x="3489319" y="1875289"/>
            <a:ext cx="3201547" cy="67311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DBA31E-5A32-8E66-EA87-156BA2A6C2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3600" y="1777911"/>
            <a:ext cx="3024323" cy="6731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460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9E9A00-2986-D213-C254-C92863005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8965E0D-12FD-FF21-2841-1ABA3055B06E}"/>
              </a:ext>
            </a:extLst>
          </p:cNvPr>
          <p:cNvSpPr/>
          <p:nvPr/>
        </p:nvSpPr>
        <p:spPr>
          <a:xfrm rot="5400000">
            <a:off x="13144500" y="4208318"/>
            <a:ext cx="10287000" cy="1870364"/>
          </a:xfrm>
          <a:custGeom>
            <a:avLst/>
            <a:gdLst/>
            <a:ahLst/>
            <a:cxnLst/>
            <a:rect l="l" t="t" r="r" b="b"/>
            <a:pathLst>
              <a:path w="10287000" h="1870364">
                <a:moveTo>
                  <a:pt x="0" y="0"/>
                </a:moveTo>
                <a:lnTo>
                  <a:pt x="10287000" y="0"/>
                </a:lnTo>
                <a:lnTo>
                  <a:pt x="10287000" y="1870364"/>
                </a:lnTo>
                <a:lnTo>
                  <a:pt x="0" y="18703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41BE9D7-95F6-823B-8B28-048E8BAA1315}"/>
              </a:ext>
            </a:extLst>
          </p:cNvPr>
          <p:cNvSpPr/>
          <p:nvPr/>
        </p:nvSpPr>
        <p:spPr>
          <a:xfrm>
            <a:off x="4000500" y="9351818"/>
            <a:ext cx="10287000" cy="1870364"/>
          </a:xfrm>
          <a:custGeom>
            <a:avLst/>
            <a:gdLst/>
            <a:ahLst/>
            <a:cxnLst/>
            <a:rect l="l" t="t" r="r" b="b"/>
            <a:pathLst>
              <a:path w="10287000" h="1870364">
                <a:moveTo>
                  <a:pt x="0" y="0"/>
                </a:moveTo>
                <a:lnTo>
                  <a:pt x="10287000" y="0"/>
                </a:lnTo>
                <a:lnTo>
                  <a:pt x="10287000" y="1870364"/>
                </a:lnTo>
                <a:lnTo>
                  <a:pt x="0" y="18703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D3B6A91-8502-5DB4-A428-7EBEF5B7B13D}"/>
              </a:ext>
            </a:extLst>
          </p:cNvPr>
          <p:cNvSpPr txBox="1"/>
          <p:nvPr/>
        </p:nvSpPr>
        <p:spPr>
          <a:xfrm>
            <a:off x="8260791" y="2933700"/>
            <a:ext cx="6002896" cy="69617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As you click on the Routine Monitoring questionnaire, this page opens.</a:t>
            </a: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>
                  <a:lumMod val="95000"/>
                </a:schemeClr>
              </a:solidFill>
              <a:latin typeface="Alice" panose="020B0604020202020204" charset="0"/>
            </a:endParaRP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Section 1 collects the General Information of the place where you have visited to collect the data.</a:t>
            </a: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>
                  <a:lumMod val="95000"/>
                </a:schemeClr>
              </a:solidFill>
              <a:latin typeface="Alice" panose="020B0604020202020204" charset="0"/>
            </a:endParaRP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dirty="0"/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FFF8EF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FFF8EF"/>
              </a:solidFill>
              <a:latin typeface="Alice"/>
              <a:ea typeface="Alice"/>
              <a:cs typeface="Alice"/>
              <a:sym typeface="Alice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1D4F1EA-9484-E087-8FFB-D83FB3E55DE6}"/>
              </a:ext>
            </a:extLst>
          </p:cNvPr>
          <p:cNvSpPr txBox="1"/>
          <p:nvPr/>
        </p:nvSpPr>
        <p:spPr>
          <a:xfrm>
            <a:off x="4634670" y="750324"/>
            <a:ext cx="12699098" cy="1091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86"/>
              </a:lnSpc>
            </a:pPr>
            <a:r>
              <a:rPr lang="en-US" sz="6561" dirty="0">
                <a:solidFill>
                  <a:srgbClr val="FFDE59"/>
                </a:solidFill>
                <a:latin typeface="Alice"/>
                <a:ea typeface="Alice"/>
                <a:cs typeface="Alice"/>
                <a:sym typeface="Alice"/>
              </a:rPr>
              <a:t>RM Checklist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CC9941-0BEF-9C86-A7E5-D64A0B600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714500"/>
            <a:ext cx="3495260" cy="7331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681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866925">
            <a:off x="14807506" y="6522075"/>
            <a:ext cx="3701061" cy="3755689"/>
          </a:xfrm>
          <a:custGeom>
            <a:avLst/>
            <a:gdLst/>
            <a:ahLst/>
            <a:cxnLst/>
            <a:rect l="l" t="t" r="r" b="b"/>
            <a:pathLst>
              <a:path w="3701061" h="3755689">
                <a:moveTo>
                  <a:pt x="0" y="0"/>
                </a:moveTo>
                <a:lnTo>
                  <a:pt x="3701060" y="0"/>
                </a:lnTo>
                <a:lnTo>
                  <a:pt x="3701060" y="3755689"/>
                </a:lnTo>
                <a:lnTo>
                  <a:pt x="0" y="37556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2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10331918" y="-417860"/>
            <a:ext cx="7956082" cy="1446560"/>
          </a:xfrm>
          <a:custGeom>
            <a:avLst/>
            <a:gdLst/>
            <a:ahLst/>
            <a:cxnLst/>
            <a:rect l="l" t="t" r="r" b="b"/>
            <a:pathLst>
              <a:path w="7956082" h="1446560">
                <a:moveTo>
                  <a:pt x="0" y="0"/>
                </a:moveTo>
                <a:lnTo>
                  <a:pt x="7956082" y="0"/>
                </a:lnTo>
                <a:lnTo>
                  <a:pt x="7956082" y="1446560"/>
                </a:lnTo>
                <a:lnTo>
                  <a:pt x="0" y="14465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-921610" y="9258300"/>
            <a:ext cx="7956082" cy="1446560"/>
          </a:xfrm>
          <a:custGeom>
            <a:avLst/>
            <a:gdLst/>
            <a:ahLst/>
            <a:cxnLst/>
            <a:rect l="l" t="t" r="r" b="b"/>
            <a:pathLst>
              <a:path w="7956082" h="1446560">
                <a:moveTo>
                  <a:pt x="0" y="0"/>
                </a:moveTo>
                <a:lnTo>
                  <a:pt x="7956082" y="0"/>
                </a:lnTo>
                <a:lnTo>
                  <a:pt x="7956082" y="1446560"/>
                </a:lnTo>
                <a:lnTo>
                  <a:pt x="0" y="14465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0" y="-82242"/>
            <a:ext cx="2855408" cy="1562687"/>
          </a:xfrm>
          <a:custGeom>
            <a:avLst/>
            <a:gdLst/>
            <a:ahLst/>
            <a:cxnLst/>
            <a:rect l="l" t="t" r="r" b="b"/>
            <a:pathLst>
              <a:path w="2855408" h="1562687">
                <a:moveTo>
                  <a:pt x="0" y="0"/>
                </a:moveTo>
                <a:lnTo>
                  <a:pt x="2855408" y="0"/>
                </a:lnTo>
                <a:lnTo>
                  <a:pt x="2855408" y="1562686"/>
                </a:lnTo>
                <a:lnTo>
                  <a:pt x="0" y="15626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0" y="1503728"/>
            <a:ext cx="18288000" cy="1045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39"/>
              </a:lnSpc>
            </a:pPr>
            <a:r>
              <a:rPr lang="en-US" sz="6099" dirty="0">
                <a:solidFill>
                  <a:srgbClr val="FFDE59"/>
                </a:solidFill>
                <a:latin typeface="Alice"/>
                <a:ea typeface="Alice"/>
                <a:cs typeface="Alice"/>
                <a:sym typeface="Alice"/>
              </a:rPr>
              <a:t>Section 1- General Information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69191" y="3162300"/>
            <a:ext cx="15055507" cy="4807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Kindly fill the general information of the place that you have visited to collect data.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endParaRPr lang="en-US" sz="3000" dirty="0">
              <a:solidFill>
                <a:srgbClr val="FFFFFF"/>
              </a:solidFill>
              <a:latin typeface="Alice"/>
              <a:ea typeface="Alice"/>
              <a:cs typeface="Alice"/>
              <a:sym typeface="Alice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State, district and block are drop down menus that give specific information.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endParaRPr lang="en-US" sz="3000" dirty="0">
              <a:solidFill>
                <a:srgbClr val="FFFFFF"/>
              </a:solidFill>
              <a:latin typeface="Alice"/>
              <a:ea typeface="Alice"/>
              <a:cs typeface="Alice"/>
              <a:sym typeface="Alice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As a particular state is selected, it’s corresponding districts and the corresponding blocks of the selected districts open up.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endParaRPr lang="en-US" sz="3000" dirty="0">
              <a:solidFill>
                <a:srgbClr val="FFFFFF"/>
              </a:solidFill>
              <a:latin typeface="Alice"/>
              <a:ea typeface="Alice"/>
              <a:cs typeface="Alice"/>
              <a:sym typeface="Alice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Kindly keep location enabled on your device and the geo-coordinates will be automatically taken up by the device at the end of the page.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6C34ED-DC86-B8C0-B645-955C06355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01B84E9-C99C-0783-7162-53BF07AEC1AE}"/>
              </a:ext>
            </a:extLst>
          </p:cNvPr>
          <p:cNvSpPr/>
          <p:nvPr/>
        </p:nvSpPr>
        <p:spPr>
          <a:xfrm rot="5400000">
            <a:off x="13144500" y="4208318"/>
            <a:ext cx="10287000" cy="1870364"/>
          </a:xfrm>
          <a:custGeom>
            <a:avLst/>
            <a:gdLst/>
            <a:ahLst/>
            <a:cxnLst/>
            <a:rect l="l" t="t" r="r" b="b"/>
            <a:pathLst>
              <a:path w="10287000" h="1870364">
                <a:moveTo>
                  <a:pt x="0" y="0"/>
                </a:moveTo>
                <a:lnTo>
                  <a:pt x="10287000" y="0"/>
                </a:lnTo>
                <a:lnTo>
                  <a:pt x="10287000" y="1870364"/>
                </a:lnTo>
                <a:lnTo>
                  <a:pt x="0" y="18703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8BC292A-4509-7DE9-8C1F-934ABA21698E}"/>
              </a:ext>
            </a:extLst>
          </p:cNvPr>
          <p:cNvSpPr/>
          <p:nvPr/>
        </p:nvSpPr>
        <p:spPr>
          <a:xfrm>
            <a:off x="4000500" y="9351818"/>
            <a:ext cx="10287000" cy="1870364"/>
          </a:xfrm>
          <a:custGeom>
            <a:avLst/>
            <a:gdLst/>
            <a:ahLst/>
            <a:cxnLst/>
            <a:rect l="l" t="t" r="r" b="b"/>
            <a:pathLst>
              <a:path w="10287000" h="1870364">
                <a:moveTo>
                  <a:pt x="0" y="0"/>
                </a:moveTo>
                <a:lnTo>
                  <a:pt x="10287000" y="0"/>
                </a:lnTo>
                <a:lnTo>
                  <a:pt x="10287000" y="1870364"/>
                </a:lnTo>
                <a:lnTo>
                  <a:pt x="0" y="18703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3B0C7CA-ADA1-478A-7694-105A3122B7D9}"/>
              </a:ext>
            </a:extLst>
          </p:cNvPr>
          <p:cNvSpPr txBox="1"/>
          <p:nvPr/>
        </p:nvSpPr>
        <p:spPr>
          <a:xfrm>
            <a:off x="6705600" y="2095500"/>
            <a:ext cx="8915400" cy="101934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Certain spaces in section 1 have an automatic ‘Test’ cache embedded in the answers.</a:t>
            </a: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As you go to a new place, kindly delete them and enter the Name of ICDS project, sector, village , AWC and field monitor (self).</a:t>
            </a: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Any answer that has the word ‘Test’ in it after submission will be automatically deleted by the server.</a:t>
            </a: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If you continue to fill a household section at the SAME PLACE, section 1 will not change it’s information as it is automated.</a:t>
            </a: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However, if you are changing location, this section needs to be filled again.</a:t>
            </a: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>
                  <a:lumMod val="95000"/>
                </a:schemeClr>
              </a:solidFill>
              <a:latin typeface="Alice" panose="020B0604020202020204" charset="0"/>
            </a:endParaRP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>
                  <a:lumMod val="95000"/>
                </a:schemeClr>
              </a:solidFill>
              <a:latin typeface="Alice" panose="020B0604020202020204" charset="0"/>
            </a:endParaRP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dirty="0"/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FFF8EF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FFF8EF"/>
              </a:solidFill>
              <a:latin typeface="Alice"/>
              <a:ea typeface="Alice"/>
              <a:cs typeface="Alice"/>
              <a:sym typeface="Alice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E9444A5-CBDC-C9E1-3FE2-62EF7362961E}"/>
              </a:ext>
            </a:extLst>
          </p:cNvPr>
          <p:cNvSpPr txBox="1"/>
          <p:nvPr/>
        </p:nvSpPr>
        <p:spPr>
          <a:xfrm>
            <a:off x="4634670" y="750324"/>
            <a:ext cx="12699098" cy="1091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86"/>
              </a:lnSpc>
            </a:pPr>
            <a:r>
              <a:rPr lang="en-US" sz="6561" dirty="0">
                <a:solidFill>
                  <a:srgbClr val="FFDE59"/>
                </a:solidFill>
                <a:latin typeface="Alice"/>
                <a:ea typeface="Alice"/>
                <a:cs typeface="Alice"/>
                <a:sym typeface="Alice"/>
              </a:rPr>
              <a:t>Cache Deletion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92314F-8F4D-DC92-3351-43BD546BBE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947669"/>
            <a:ext cx="4101712" cy="838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696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533157-CEDE-ADD3-CC1F-06AF68CEF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DAA0EFC-F076-8B95-4329-8904598C4158}"/>
              </a:ext>
            </a:extLst>
          </p:cNvPr>
          <p:cNvSpPr/>
          <p:nvPr/>
        </p:nvSpPr>
        <p:spPr>
          <a:xfrm rot="5400000">
            <a:off x="13144500" y="4208318"/>
            <a:ext cx="10287000" cy="1870364"/>
          </a:xfrm>
          <a:custGeom>
            <a:avLst/>
            <a:gdLst/>
            <a:ahLst/>
            <a:cxnLst/>
            <a:rect l="l" t="t" r="r" b="b"/>
            <a:pathLst>
              <a:path w="10287000" h="1870364">
                <a:moveTo>
                  <a:pt x="0" y="0"/>
                </a:moveTo>
                <a:lnTo>
                  <a:pt x="10287000" y="0"/>
                </a:lnTo>
                <a:lnTo>
                  <a:pt x="10287000" y="1870364"/>
                </a:lnTo>
                <a:lnTo>
                  <a:pt x="0" y="18703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15EA5CA-0715-ABB4-D638-7F46D58CC355}"/>
              </a:ext>
            </a:extLst>
          </p:cNvPr>
          <p:cNvSpPr/>
          <p:nvPr/>
        </p:nvSpPr>
        <p:spPr>
          <a:xfrm>
            <a:off x="4000500" y="9351818"/>
            <a:ext cx="10287000" cy="1870364"/>
          </a:xfrm>
          <a:custGeom>
            <a:avLst/>
            <a:gdLst/>
            <a:ahLst/>
            <a:cxnLst/>
            <a:rect l="l" t="t" r="r" b="b"/>
            <a:pathLst>
              <a:path w="10287000" h="1870364">
                <a:moveTo>
                  <a:pt x="0" y="0"/>
                </a:moveTo>
                <a:lnTo>
                  <a:pt x="10287000" y="0"/>
                </a:lnTo>
                <a:lnTo>
                  <a:pt x="10287000" y="1870364"/>
                </a:lnTo>
                <a:lnTo>
                  <a:pt x="0" y="18703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98CFACD-27E2-06C7-EB23-3FE0FC82C644}"/>
              </a:ext>
            </a:extLst>
          </p:cNvPr>
          <p:cNvSpPr txBox="1"/>
          <p:nvPr/>
        </p:nvSpPr>
        <p:spPr>
          <a:xfrm>
            <a:off x="7955980" y="2120255"/>
            <a:ext cx="6002896" cy="91162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At the end of section 1, kindly select the activity that you are there to observe. </a:t>
            </a: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>
                  <a:lumMod val="95000"/>
                </a:schemeClr>
              </a:solidFill>
              <a:latin typeface="Alice" panose="020B0604020202020204" charset="0"/>
            </a:endParaRP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You can select only one activity from this and fill the corresponding questions before submitting.</a:t>
            </a: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>
                  <a:lumMod val="95000"/>
                </a:schemeClr>
              </a:solidFill>
              <a:latin typeface="Alice" panose="020B0604020202020204" charset="0"/>
            </a:endParaRP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To fill another section, selection of the section has to be done again from this question.</a:t>
            </a: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dirty="0"/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FFF8EF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FFF8EF"/>
              </a:solidFill>
              <a:latin typeface="Alice"/>
              <a:ea typeface="Alice"/>
              <a:cs typeface="Alice"/>
              <a:sym typeface="Alice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CEBA46B-F0DC-2B6D-D933-995F7810F43E}"/>
              </a:ext>
            </a:extLst>
          </p:cNvPr>
          <p:cNvSpPr txBox="1"/>
          <p:nvPr/>
        </p:nvSpPr>
        <p:spPr>
          <a:xfrm>
            <a:off x="4634670" y="750324"/>
            <a:ext cx="12699098" cy="1091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86"/>
              </a:lnSpc>
            </a:pPr>
            <a:r>
              <a:rPr lang="en-US" sz="6561" dirty="0">
                <a:solidFill>
                  <a:srgbClr val="FFDE59"/>
                </a:solidFill>
                <a:latin typeface="Alice"/>
                <a:ea typeface="Alice"/>
                <a:cs typeface="Alice"/>
                <a:sym typeface="Alice"/>
              </a:rPr>
              <a:t>Section Selection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90C192-FA41-D768-B5BE-0500957B98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44" y="1115730"/>
            <a:ext cx="3945956" cy="8055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251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0027AF-FE9C-285C-0120-015F3689D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7851F54-3010-D795-10F9-0CB6997773E4}"/>
              </a:ext>
            </a:extLst>
          </p:cNvPr>
          <p:cNvSpPr/>
          <p:nvPr/>
        </p:nvSpPr>
        <p:spPr>
          <a:xfrm rot="5400000">
            <a:off x="13144500" y="4208318"/>
            <a:ext cx="10287000" cy="1870364"/>
          </a:xfrm>
          <a:custGeom>
            <a:avLst/>
            <a:gdLst/>
            <a:ahLst/>
            <a:cxnLst/>
            <a:rect l="l" t="t" r="r" b="b"/>
            <a:pathLst>
              <a:path w="10287000" h="1870364">
                <a:moveTo>
                  <a:pt x="0" y="0"/>
                </a:moveTo>
                <a:lnTo>
                  <a:pt x="10287000" y="0"/>
                </a:lnTo>
                <a:lnTo>
                  <a:pt x="10287000" y="1870364"/>
                </a:lnTo>
                <a:lnTo>
                  <a:pt x="0" y="18703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4C8EBB1-3BDE-077E-30F9-718F8A0EBE6B}"/>
              </a:ext>
            </a:extLst>
          </p:cNvPr>
          <p:cNvSpPr/>
          <p:nvPr/>
        </p:nvSpPr>
        <p:spPr>
          <a:xfrm>
            <a:off x="4000500" y="9351818"/>
            <a:ext cx="10287000" cy="1870364"/>
          </a:xfrm>
          <a:custGeom>
            <a:avLst/>
            <a:gdLst/>
            <a:ahLst/>
            <a:cxnLst/>
            <a:rect l="l" t="t" r="r" b="b"/>
            <a:pathLst>
              <a:path w="10287000" h="1870364">
                <a:moveTo>
                  <a:pt x="0" y="0"/>
                </a:moveTo>
                <a:lnTo>
                  <a:pt x="10287000" y="0"/>
                </a:lnTo>
                <a:lnTo>
                  <a:pt x="10287000" y="1870364"/>
                </a:lnTo>
                <a:lnTo>
                  <a:pt x="0" y="18703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8F40C98-A997-FB90-9035-9AFFB4790203}"/>
              </a:ext>
            </a:extLst>
          </p:cNvPr>
          <p:cNvSpPr txBox="1"/>
          <p:nvPr/>
        </p:nvSpPr>
        <p:spPr>
          <a:xfrm>
            <a:off x="8610600" y="3086100"/>
            <a:ext cx="6002896" cy="5884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At the end of each questionnaire, after filling all the questions, the form can be submitted by clicking on the submit button as shown in the picture.</a:t>
            </a: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>
                  <a:lumMod val="95000"/>
                </a:schemeClr>
              </a:solidFill>
              <a:latin typeface="Alice" panose="020B0604020202020204" charset="0"/>
            </a:endParaRP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dirty="0"/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FFF8EF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FFF8EF"/>
              </a:solidFill>
              <a:latin typeface="Alice"/>
              <a:ea typeface="Alice"/>
              <a:cs typeface="Alice"/>
              <a:sym typeface="Alice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0043847-7D6E-D474-0392-45BA74DE7D5B}"/>
              </a:ext>
            </a:extLst>
          </p:cNvPr>
          <p:cNvSpPr txBox="1"/>
          <p:nvPr/>
        </p:nvSpPr>
        <p:spPr>
          <a:xfrm>
            <a:off x="4899476" y="1316340"/>
            <a:ext cx="12699098" cy="1091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86"/>
              </a:lnSpc>
            </a:pPr>
            <a:r>
              <a:rPr lang="en-US" sz="6561" dirty="0">
                <a:solidFill>
                  <a:srgbClr val="FFDE59"/>
                </a:solidFill>
                <a:latin typeface="Alice"/>
                <a:ea typeface="Alice"/>
                <a:cs typeface="Alice"/>
                <a:sym typeface="Alice"/>
              </a:rPr>
              <a:t>Submission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AF45C9-6C2F-D314-AB4C-22A1DEDF7E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232" y="740799"/>
            <a:ext cx="4191000" cy="856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616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212A47-8AEA-6E91-A2C9-68C835065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6602504-3E4C-2F64-D551-B041117F3F74}"/>
              </a:ext>
            </a:extLst>
          </p:cNvPr>
          <p:cNvSpPr/>
          <p:nvPr/>
        </p:nvSpPr>
        <p:spPr>
          <a:xfrm rot="5400000">
            <a:off x="13144500" y="4208318"/>
            <a:ext cx="10287000" cy="1870364"/>
          </a:xfrm>
          <a:custGeom>
            <a:avLst/>
            <a:gdLst/>
            <a:ahLst/>
            <a:cxnLst/>
            <a:rect l="l" t="t" r="r" b="b"/>
            <a:pathLst>
              <a:path w="10287000" h="1870364">
                <a:moveTo>
                  <a:pt x="0" y="0"/>
                </a:moveTo>
                <a:lnTo>
                  <a:pt x="10287000" y="0"/>
                </a:lnTo>
                <a:lnTo>
                  <a:pt x="10287000" y="1870364"/>
                </a:lnTo>
                <a:lnTo>
                  <a:pt x="0" y="18703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B950971-B663-3C7C-D4DD-4F41EED7DCE7}"/>
              </a:ext>
            </a:extLst>
          </p:cNvPr>
          <p:cNvSpPr txBox="1"/>
          <p:nvPr/>
        </p:nvSpPr>
        <p:spPr>
          <a:xfrm>
            <a:off x="2209800" y="400050"/>
            <a:ext cx="12699098" cy="1091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86"/>
              </a:lnSpc>
            </a:pPr>
            <a:r>
              <a:rPr lang="en-US" sz="6600" dirty="0">
                <a:solidFill>
                  <a:srgbClr val="FFDE59"/>
                </a:solidFill>
                <a:latin typeface="Alice"/>
                <a:ea typeface="Alice"/>
                <a:cs typeface="Alice"/>
                <a:sym typeface="Alice"/>
              </a:rPr>
              <a:t>Offline Survey Submission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1757B738-ADAF-7BBC-F146-CFE134579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8038872"/>
            <a:ext cx="14363965" cy="1981428"/>
          </a:xfrm>
        </p:spPr>
        <p:txBody>
          <a:bodyPr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Alice" panose="020B0604020202020204" charset="0"/>
              </a:rPr>
              <a:t>For offline form submission, the screen would look as shown in the first picture.</a:t>
            </a:r>
            <a:br>
              <a:rPr lang="en-IN" sz="2800" dirty="0">
                <a:solidFill>
                  <a:schemeClr val="bg1"/>
                </a:solidFill>
                <a:latin typeface="Alice" panose="020B0604020202020204" charset="0"/>
              </a:rPr>
            </a:br>
            <a:br>
              <a:rPr lang="en-IN" sz="2800" dirty="0">
                <a:solidFill>
                  <a:schemeClr val="bg1"/>
                </a:solidFill>
                <a:latin typeface="Alice" panose="020B0604020202020204" charset="0"/>
              </a:rPr>
            </a:br>
            <a:r>
              <a:rPr lang="en-IN" sz="2800" dirty="0">
                <a:solidFill>
                  <a:schemeClr val="bg1"/>
                </a:solidFill>
                <a:latin typeface="Alice" panose="020B0604020202020204" charset="0"/>
              </a:rPr>
              <a:t>Users can save filled forms offline and upload them once the internet is available.</a:t>
            </a:r>
            <a:br>
              <a:rPr lang="en-IN" sz="2800" dirty="0">
                <a:solidFill>
                  <a:schemeClr val="bg1"/>
                </a:solidFill>
                <a:latin typeface="Alice" panose="020B0604020202020204" charset="0"/>
              </a:rPr>
            </a:br>
            <a:r>
              <a:rPr lang="en-IN" sz="2800" dirty="0">
                <a:solidFill>
                  <a:schemeClr val="bg1"/>
                </a:solidFill>
                <a:latin typeface="Alice" panose="020B0604020202020204" charset="0"/>
              </a:rPr>
              <a:t> </a:t>
            </a:r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5CA715CE-7DE8-8975-6726-0F7318D079C3}"/>
              </a:ext>
            </a:extLst>
          </p:cNvPr>
          <p:cNvSpPr/>
          <p:nvPr/>
        </p:nvSpPr>
        <p:spPr>
          <a:xfrm>
            <a:off x="4000500" y="9639300"/>
            <a:ext cx="10287000" cy="1870364"/>
          </a:xfrm>
          <a:custGeom>
            <a:avLst/>
            <a:gdLst/>
            <a:ahLst/>
            <a:cxnLst/>
            <a:rect l="l" t="t" r="r" b="b"/>
            <a:pathLst>
              <a:path w="10287000" h="1870364">
                <a:moveTo>
                  <a:pt x="0" y="0"/>
                </a:moveTo>
                <a:lnTo>
                  <a:pt x="10287000" y="0"/>
                </a:lnTo>
                <a:lnTo>
                  <a:pt x="10287000" y="1870364"/>
                </a:lnTo>
                <a:lnTo>
                  <a:pt x="0" y="18703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261F42-8662-4938-3EE3-A512A6F74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799" y="1704974"/>
            <a:ext cx="2749969" cy="61205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C716EE-CFEB-10B9-90E8-2D651CE884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199" y="1684079"/>
            <a:ext cx="2749969" cy="622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360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32A764-8C56-8B22-BB1D-F2E8968BF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5F4F988-A1D3-E0FC-3B67-772FF40CD5B8}"/>
              </a:ext>
            </a:extLst>
          </p:cNvPr>
          <p:cNvSpPr/>
          <p:nvPr/>
        </p:nvSpPr>
        <p:spPr>
          <a:xfrm rot="5400000">
            <a:off x="13144500" y="4208318"/>
            <a:ext cx="10287000" cy="1870364"/>
          </a:xfrm>
          <a:custGeom>
            <a:avLst/>
            <a:gdLst/>
            <a:ahLst/>
            <a:cxnLst/>
            <a:rect l="l" t="t" r="r" b="b"/>
            <a:pathLst>
              <a:path w="10287000" h="1870364">
                <a:moveTo>
                  <a:pt x="0" y="0"/>
                </a:moveTo>
                <a:lnTo>
                  <a:pt x="10287000" y="0"/>
                </a:lnTo>
                <a:lnTo>
                  <a:pt x="10287000" y="1870364"/>
                </a:lnTo>
                <a:lnTo>
                  <a:pt x="0" y="18703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CD769D6-93C6-0161-7CB9-A0BF3322D119}"/>
              </a:ext>
            </a:extLst>
          </p:cNvPr>
          <p:cNvSpPr/>
          <p:nvPr/>
        </p:nvSpPr>
        <p:spPr>
          <a:xfrm>
            <a:off x="4000500" y="9351818"/>
            <a:ext cx="10287000" cy="1870364"/>
          </a:xfrm>
          <a:custGeom>
            <a:avLst/>
            <a:gdLst/>
            <a:ahLst/>
            <a:cxnLst/>
            <a:rect l="l" t="t" r="r" b="b"/>
            <a:pathLst>
              <a:path w="10287000" h="1870364">
                <a:moveTo>
                  <a:pt x="0" y="0"/>
                </a:moveTo>
                <a:lnTo>
                  <a:pt x="10287000" y="0"/>
                </a:lnTo>
                <a:lnTo>
                  <a:pt x="10287000" y="1870364"/>
                </a:lnTo>
                <a:lnTo>
                  <a:pt x="0" y="18703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7E737A7-2EA3-06CB-7916-B2414B4A729E}"/>
              </a:ext>
            </a:extLst>
          </p:cNvPr>
          <p:cNvSpPr txBox="1"/>
          <p:nvPr/>
        </p:nvSpPr>
        <p:spPr>
          <a:xfrm>
            <a:off x="5933913" y="2705100"/>
            <a:ext cx="10896600" cy="85776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The app also displays the daily State-wise Routine Monitoring data status in the data download section.</a:t>
            </a:r>
          </a:p>
          <a:p>
            <a:pPr algn="just">
              <a:lnSpc>
                <a:spcPts val="4200"/>
              </a:lnSpc>
            </a:pPr>
            <a:endParaRPr lang="en-IN" sz="3200" dirty="0">
              <a:solidFill>
                <a:schemeClr val="bg1">
                  <a:lumMod val="95000"/>
                </a:schemeClr>
              </a:solidFill>
              <a:latin typeface="Alice" panose="020B0604020202020204" charset="0"/>
            </a:endParaRP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It displays all sections and all states separately everyday.</a:t>
            </a: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>
                  <a:lumMod val="95000"/>
                </a:schemeClr>
              </a:solidFill>
              <a:latin typeface="Alice" panose="020B0604020202020204" charset="0"/>
            </a:endParaRP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It can be checked for a particular day or a period of time.</a:t>
            </a: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>
                  <a:lumMod val="95000"/>
                </a:schemeClr>
              </a:solidFill>
              <a:latin typeface="Alice" panose="020B0604020202020204" charset="0"/>
            </a:endParaRPr>
          </a:p>
          <a:p>
            <a:pPr marL="285750" indent="-285750" algn="just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95000"/>
                  </a:schemeClr>
                </a:solidFill>
                <a:latin typeface="Alice" panose="020B0604020202020204" charset="0"/>
              </a:rPr>
              <a:t>This section is only visible to the state leads. Individual block co-ordinators can check their own entries.</a:t>
            </a: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>
                  <a:lumMod val="95000"/>
                </a:schemeClr>
              </a:solidFill>
              <a:latin typeface="Alice" panose="020B0604020202020204" charset="0"/>
            </a:endParaRP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>
                  <a:lumMod val="95000"/>
                </a:schemeClr>
              </a:solidFill>
              <a:latin typeface="Alice" panose="020B0604020202020204" charset="0"/>
            </a:endParaRP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>
                  <a:lumMod val="95000"/>
                </a:schemeClr>
              </a:solidFill>
              <a:latin typeface="Alice" panose="020B0604020202020204" charset="0"/>
            </a:endParaRP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lnSpc>
                <a:spcPts val="4200"/>
              </a:lnSpc>
              <a:buFont typeface="Arial" panose="020B0604020202020204" pitchFamily="34" charset="0"/>
              <a:buChar char="•"/>
            </a:pPr>
            <a:endParaRPr dirty="0"/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FFF8EF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FFF8EF"/>
              </a:solidFill>
              <a:latin typeface="Alice"/>
              <a:ea typeface="Alice"/>
              <a:cs typeface="Alice"/>
              <a:sym typeface="Alice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2B90BBC-BF33-BAE1-111A-002572220E1F}"/>
              </a:ext>
            </a:extLst>
          </p:cNvPr>
          <p:cNvSpPr txBox="1"/>
          <p:nvPr/>
        </p:nvSpPr>
        <p:spPr>
          <a:xfrm>
            <a:off x="4876800" y="876300"/>
            <a:ext cx="12699098" cy="1091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86"/>
              </a:lnSpc>
            </a:pPr>
            <a:r>
              <a:rPr lang="en-US" sz="6561" dirty="0">
                <a:solidFill>
                  <a:srgbClr val="FFDE59"/>
                </a:solidFill>
                <a:latin typeface="Alice"/>
                <a:ea typeface="Alice"/>
                <a:cs typeface="Alice"/>
                <a:sym typeface="Alice"/>
              </a:rPr>
              <a:t>State- wise RM data status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13D7E5-546C-502A-DA9C-5FC2666C6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691" y="1422090"/>
            <a:ext cx="3123803" cy="6834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869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31285" y="-1163782"/>
            <a:ext cx="12801600" cy="2327564"/>
          </a:xfrm>
          <a:custGeom>
            <a:avLst/>
            <a:gdLst/>
            <a:ahLst/>
            <a:cxnLst/>
            <a:rect l="l" t="t" r="r" b="b"/>
            <a:pathLst>
              <a:path w="12801600" h="2327564">
                <a:moveTo>
                  <a:pt x="0" y="0"/>
                </a:moveTo>
                <a:lnTo>
                  <a:pt x="12801600" y="0"/>
                </a:lnTo>
                <a:lnTo>
                  <a:pt x="12801600" y="2327564"/>
                </a:lnTo>
                <a:lnTo>
                  <a:pt x="0" y="23275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573585" y="9636696"/>
            <a:ext cx="17259300" cy="3138055"/>
          </a:xfrm>
          <a:custGeom>
            <a:avLst/>
            <a:gdLst/>
            <a:ahLst/>
            <a:cxnLst/>
            <a:rect l="l" t="t" r="r" b="b"/>
            <a:pathLst>
              <a:path w="17259300" h="3138055">
                <a:moveTo>
                  <a:pt x="0" y="0"/>
                </a:moveTo>
                <a:lnTo>
                  <a:pt x="17259300" y="0"/>
                </a:lnTo>
                <a:lnTo>
                  <a:pt x="17259300" y="3138054"/>
                </a:lnTo>
                <a:lnTo>
                  <a:pt x="0" y="3138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1969715" y="9258300"/>
            <a:ext cx="17259300" cy="3138055"/>
          </a:xfrm>
          <a:custGeom>
            <a:avLst/>
            <a:gdLst/>
            <a:ahLst/>
            <a:cxnLst/>
            <a:rect l="l" t="t" r="r" b="b"/>
            <a:pathLst>
              <a:path w="17259300" h="3138055">
                <a:moveTo>
                  <a:pt x="0" y="0"/>
                </a:moveTo>
                <a:lnTo>
                  <a:pt x="17259300" y="0"/>
                </a:lnTo>
                <a:lnTo>
                  <a:pt x="17259300" y="3138055"/>
                </a:lnTo>
                <a:lnTo>
                  <a:pt x="0" y="31380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0" y="-82242"/>
            <a:ext cx="4059922" cy="2221885"/>
          </a:xfrm>
          <a:custGeom>
            <a:avLst/>
            <a:gdLst/>
            <a:ahLst/>
            <a:cxnLst/>
            <a:rect l="l" t="t" r="r" b="b"/>
            <a:pathLst>
              <a:path w="4059922" h="2221885">
                <a:moveTo>
                  <a:pt x="0" y="0"/>
                </a:moveTo>
                <a:lnTo>
                  <a:pt x="4059922" y="0"/>
                </a:lnTo>
                <a:lnTo>
                  <a:pt x="4059922" y="2221884"/>
                </a:lnTo>
                <a:lnTo>
                  <a:pt x="0" y="22218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4059922" y="3463203"/>
            <a:ext cx="12617083" cy="3042672"/>
            <a:chOff x="0" y="0"/>
            <a:chExt cx="16822778" cy="4056896"/>
          </a:xfrm>
        </p:grpSpPr>
        <p:sp>
          <p:nvSpPr>
            <p:cNvPr id="7" name="Freeform 7"/>
            <p:cNvSpPr/>
            <p:nvPr/>
          </p:nvSpPr>
          <p:spPr>
            <a:xfrm>
              <a:off x="9008561" y="311907"/>
              <a:ext cx="3433082" cy="1716541"/>
            </a:xfrm>
            <a:custGeom>
              <a:avLst/>
              <a:gdLst/>
              <a:ahLst/>
              <a:cxnLst/>
              <a:rect l="l" t="t" r="r" b="b"/>
              <a:pathLst>
                <a:path w="3433082" h="1716541">
                  <a:moveTo>
                    <a:pt x="0" y="0"/>
                  </a:moveTo>
                  <a:lnTo>
                    <a:pt x="3433082" y="0"/>
                  </a:lnTo>
                  <a:lnTo>
                    <a:pt x="3433082" y="1716541"/>
                  </a:lnTo>
                  <a:lnTo>
                    <a:pt x="0" y="17165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3997887" cy="4056896"/>
            </a:xfrm>
            <a:custGeom>
              <a:avLst/>
              <a:gdLst/>
              <a:ahLst/>
              <a:cxnLst/>
              <a:rect l="l" t="t" r="r" b="b"/>
              <a:pathLst>
                <a:path w="3997887" h="4056896">
                  <a:moveTo>
                    <a:pt x="0" y="0"/>
                  </a:moveTo>
                  <a:lnTo>
                    <a:pt x="3997887" y="0"/>
                  </a:lnTo>
                  <a:lnTo>
                    <a:pt x="3997887" y="4056896"/>
                  </a:lnTo>
                  <a:lnTo>
                    <a:pt x="0" y="4056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627427" y="1962242"/>
              <a:ext cx="12195351" cy="20946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9"/>
                </a:lnSpc>
              </a:pPr>
              <a:r>
                <a:rPr lang="en-US" sz="9399">
                  <a:solidFill>
                    <a:srgbClr val="FFF8EF"/>
                  </a:solidFill>
                  <a:latin typeface="Alice"/>
                  <a:ea typeface="Alice"/>
                  <a:cs typeface="Alice"/>
                  <a:sym typeface="Alice"/>
                </a:rPr>
                <a:t>THANK YOU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584</Words>
  <Application>Microsoft Office PowerPoint</Application>
  <PresentationFormat>Custom</PresentationFormat>
  <Paragraphs>84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Alice</vt:lpstr>
      <vt:lpstr>Office Theme</vt:lpstr>
      <vt:lpstr>PowerPoint Presentation</vt:lpstr>
      <vt:lpstr>PowerPoint Presentation</vt:lpstr>
      <vt:lpstr>PowerPoint Presentation</vt:lpstr>
      <vt:lpstr>PowerPoint Presentation</vt:lpstr>
      <vt:lpstr>Any surveyor can monitor their daily survey counts by clicking on the ‘Today’ button on the bottom left corner of the Routine Monitoring section.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For offline form submission, the screen would look as shown in the first picture.  Users can save filled forms offline and upload them once the internet is available. 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 PhD Seminar-Tulika Rohilla</dc:title>
  <cp:lastModifiedBy>Saurav Solanki</cp:lastModifiedBy>
  <cp:revision>30</cp:revision>
  <dcterms:created xsi:type="dcterms:W3CDTF">2006-08-16T00:00:00Z</dcterms:created>
  <dcterms:modified xsi:type="dcterms:W3CDTF">2026-06-30T08:55:12Z</dcterms:modified>
  <dc:identifier>DAGlqbXYDvU</dc:identifier>
</cp:coreProperties>
</file>