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320" r:id="rId4"/>
    <p:sldId id="321" r:id="rId5"/>
    <p:sldId id="326" r:id="rId6"/>
    <p:sldId id="322" r:id="rId7"/>
    <p:sldId id="258" r:id="rId8"/>
    <p:sldId id="323" r:id="rId9"/>
    <p:sldId id="324" r:id="rId10"/>
    <p:sldId id="325" r:id="rId11"/>
    <p:sldId id="329" r:id="rId12"/>
    <p:sldId id="327" r:id="rId13"/>
    <p:sldId id="319" r:id="rId14"/>
  </p:sldIdLst>
  <p:sldSz cx="18288000" cy="10287000"/>
  <p:notesSz cx="6858000" cy="9144000"/>
  <p:embeddedFontLst>
    <p:embeddedFont>
      <p:font typeface="Alic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54" autoAdjust="0"/>
  </p:normalViewPr>
  <p:slideViewPr>
    <p:cSldViewPr>
      <p:cViewPr varScale="1">
        <p:scale>
          <a:sx n="54" d="100"/>
          <a:sy n="54" d="100"/>
        </p:scale>
        <p:origin x="75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f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f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f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f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f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11.svg"/><Relationship Id="rId5" Type="http://schemas.openxmlformats.org/officeDocument/2006/relationships/image" Target="../media/image13.svg"/><Relationship Id="rId10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59113" y="4152900"/>
            <a:ext cx="17369773" cy="175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8"/>
              </a:lnSpc>
            </a:pPr>
            <a:r>
              <a:rPr lang="en-US" sz="8800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Mobile </a:t>
            </a:r>
            <a:r>
              <a:rPr lang="en-US" sz="8800" dirty="0" err="1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SoP</a:t>
            </a:r>
            <a:r>
              <a:rPr lang="en-US" sz="8800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 for Routine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402692" y="2654102"/>
            <a:ext cx="6002896" cy="8577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Click on the link provided to you by your admin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Clicking on this link will take you to the login page.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After login, kindly check the version of  the app at the end of the page. Please update the app to it’s latest version if required.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97902" y="895350"/>
            <a:ext cx="15094421" cy="112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How to Open or Install App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25875-0838-94BA-93C5-FB09ADBC5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38" y="3953457"/>
            <a:ext cx="6909924" cy="23800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07436-7A23-70F4-BA77-D3A38C17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7FAA0E-A834-04CB-436E-4F6E0AC19818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DA0F69A-35DC-CB99-8893-F17E81CA8AFC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D8C74ED-18CC-BD6C-99E7-59FC37CE49FC}"/>
              </a:ext>
            </a:extLst>
          </p:cNvPr>
          <p:cNvSpPr txBox="1"/>
          <p:nvPr/>
        </p:nvSpPr>
        <p:spPr>
          <a:xfrm>
            <a:off x="8686800" y="2781850"/>
            <a:ext cx="6002896" cy="7500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Enter the User Id and password provided to you by your admin in the login page.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Click the login button shown in the picture.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This will take you to the Questionnaire Selection page.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A07C11-9C9A-312D-210A-04A3004364AC}"/>
              </a:ext>
            </a:extLst>
          </p:cNvPr>
          <p:cNvSpPr txBox="1"/>
          <p:nvPr/>
        </p:nvSpPr>
        <p:spPr>
          <a:xfrm>
            <a:off x="1397902" y="895350"/>
            <a:ext cx="15094421" cy="112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Login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58C799-1EC9-43E5-4C89-7DED14F90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30861"/>
            <a:ext cx="3931132" cy="802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3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9917A-08C8-63E1-B39B-CB3ECCE5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CA6280-0649-B826-B9EB-FDEC6119C8DB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280E92A-F0AF-C6E0-4975-A974F8C88356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D4452FC-FFCC-08E8-B6B1-6387D715CB65}"/>
              </a:ext>
            </a:extLst>
          </p:cNvPr>
          <p:cNvSpPr txBox="1"/>
          <p:nvPr/>
        </p:nvSpPr>
        <p:spPr>
          <a:xfrm>
            <a:off x="8265554" y="2247900"/>
            <a:ext cx="6002896" cy="803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Logging in will lead to the questionnaire selection page.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To fill the Routine Monitoring Questionnaire, click on the ‘Routine Monitoring’ box as shown in the picture.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This will take you to the Questionnaire.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AF872F0-05AA-99D9-EF08-5F4311396E89}"/>
              </a:ext>
            </a:extLst>
          </p:cNvPr>
          <p:cNvSpPr txBox="1"/>
          <p:nvPr/>
        </p:nvSpPr>
        <p:spPr>
          <a:xfrm>
            <a:off x="4634670" y="750324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Questionnaire Selection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65C57D-6BEC-4896-EE66-7732723E8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614" y="989253"/>
            <a:ext cx="4070206" cy="82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5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09179-87C1-D133-B386-8F02652E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49AC5A-CED7-640F-6123-6CCDA3D130D3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0D605BE-DB7B-5C1C-AA98-B3CF39C30445}"/>
              </a:ext>
            </a:extLst>
          </p:cNvPr>
          <p:cNvSpPr txBox="1"/>
          <p:nvPr/>
        </p:nvSpPr>
        <p:spPr>
          <a:xfrm>
            <a:off x="2209800" y="266700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Daily Count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EC8899-F1BD-21D8-88F9-AC48412E25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81175"/>
            <a:ext cx="3048000" cy="680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B6507C-0E98-9B34-2CF6-CE85CA87BA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795461"/>
            <a:ext cx="3048000" cy="6807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9880B1-BBED-7A0E-4BB0-252DDCE692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1162" y="1795461"/>
            <a:ext cx="3041603" cy="6792914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5218C598-A6A7-1458-6AFB-586EA05A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8877300"/>
            <a:ext cx="14363965" cy="1143000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  <a:t>Any surveyor can monitor their daily survey counts by clicking on the ‘View Daily Count’ button on the top right corner of the Routine Monitoring section.  </a:t>
            </a:r>
          </a:p>
        </p:txBody>
      </p:sp>
    </p:spTree>
    <p:extLst>
      <p:ext uri="{BB962C8B-B14F-4D97-AF65-F5344CB8AC3E}">
        <p14:creationId xmlns:p14="http://schemas.microsoft.com/office/powerpoint/2010/main" val="374946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E9A00-2986-D213-C254-C9286300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965E0D-12FD-FF21-2841-1ABA3055B06E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1BE9D7-95F6-823B-8B28-048E8BAA1315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D3B6A91-8502-5DB4-A428-7EBEF5B7B13D}"/>
              </a:ext>
            </a:extLst>
          </p:cNvPr>
          <p:cNvSpPr txBox="1"/>
          <p:nvPr/>
        </p:nvSpPr>
        <p:spPr>
          <a:xfrm>
            <a:off x="8260791" y="2933700"/>
            <a:ext cx="6002896" cy="6961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As you click on the Routine Monitoring questionnaire, this page opens.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Section 1 collects the General Information of the place where you have visited to collect the data.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1D4F1EA-9484-E087-8FFB-D83FB3E55DE6}"/>
              </a:ext>
            </a:extLst>
          </p:cNvPr>
          <p:cNvSpPr txBox="1"/>
          <p:nvPr/>
        </p:nvSpPr>
        <p:spPr>
          <a:xfrm>
            <a:off x="4634670" y="750324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RM Checklist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1B569D-452C-848F-6EEA-AE5A43B36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78" y="1140535"/>
            <a:ext cx="4012915" cy="819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8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6925">
            <a:off x="14807506" y="6522075"/>
            <a:ext cx="3701061" cy="3755689"/>
          </a:xfrm>
          <a:custGeom>
            <a:avLst/>
            <a:gdLst/>
            <a:ahLst/>
            <a:cxnLst/>
            <a:rect l="l" t="t" r="r" b="b"/>
            <a:pathLst>
              <a:path w="3701061" h="3755689">
                <a:moveTo>
                  <a:pt x="0" y="0"/>
                </a:moveTo>
                <a:lnTo>
                  <a:pt x="3701060" y="0"/>
                </a:lnTo>
                <a:lnTo>
                  <a:pt x="3701060" y="3755689"/>
                </a:lnTo>
                <a:lnTo>
                  <a:pt x="0" y="3755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0331918" y="-417860"/>
            <a:ext cx="7956082" cy="1446560"/>
          </a:xfrm>
          <a:custGeom>
            <a:avLst/>
            <a:gdLst/>
            <a:ahLst/>
            <a:cxnLst/>
            <a:rect l="l" t="t" r="r" b="b"/>
            <a:pathLst>
              <a:path w="7956082" h="1446560">
                <a:moveTo>
                  <a:pt x="0" y="0"/>
                </a:moveTo>
                <a:lnTo>
                  <a:pt x="7956082" y="0"/>
                </a:lnTo>
                <a:lnTo>
                  <a:pt x="7956082" y="1446560"/>
                </a:lnTo>
                <a:lnTo>
                  <a:pt x="0" y="1446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-921610" y="9258300"/>
            <a:ext cx="7956082" cy="1446560"/>
          </a:xfrm>
          <a:custGeom>
            <a:avLst/>
            <a:gdLst/>
            <a:ahLst/>
            <a:cxnLst/>
            <a:rect l="l" t="t" r="r" b="b"/>
            <a:pathLst>
              <a:path w="7956082" h="1446560">
                <a:moveTo>
                  <a:pt x="0" y="0"/>
                </a:moveTo>
                <a:lnTo>
                  <a:pt x="7956082" y="0"/>
                </a:lnTo>
                <a:lnTo>
                  <a:pt x="7956082" y="1446560"/>
                </a:lnTo>
                <a:lnTo>
                  <a:pt x="0" y="1446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-82242"/>
            <a:ext cx="2855408" cy="1562687"/>
          </a:xfrm>
          <a:custGeom>
            <a:avLst/>
            <a:gdLst/>
            <a:ahLst/>
            <a:cxnLst/>
            <a:rect l="l" t="t" r="r" b="b"/>
            <a:pathLst>
              <a:path w="2855408" h="1562687">
                <a:moveTo>
                  <a:pt x="0" y="0"/>
                </a:moveTo>
                <a:lnTo>
                  <a:pt x="2855408" y="0"/>
                </a:lnTo>
                <a:lnTo>
                  <a:pt x="2855408" y="1562686"/>
                </a:lnTo>
                <a:lnTo>
                  <a:pt x="0" y="1562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1503728"/>
            <a:ext cx="18288000" cy="104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Section 1- General 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9191" y="3162300"/>
            <a:ext cx="15055507" cy="4807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Kindly fill the general information of the place that you have visited to collect data.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State, district and block are drop down menus that give specific information.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As a particular state is selected, it’s corresponding districts and the corresponding blocks of the selected districts open up.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Kindly keep location enabled on your device and the geo-coordinates will be automatically taken up by the device at the end of the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C34ED-DC86-B8C0-B645-955C0635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1B84E9-C99C-0783-7162-53BF07AEC1AE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8BC292A-4509-7DE9-8C1F-934ABA21698E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3B0C7CA-ADA1-478A-7694-105A3122B7D9}"/>
              </a:ext>
            </a:extLst>
          </p:cNvPr>
          <p:cNvSpPr txBox="1"/>
          <p:nvPr/>
        </p:nvSpPr>
        <p:spPr>
          <a:xfrm>
            <a:off x="6705600" y="2095500"/>
            <a:ext cx="8915400" cy="10193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Certain spaces in section 1 have an automatic ‘Test’ cache embedded in the answers.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As you go to a new place, kindly delete them and enter the Name of ICDS project, sector, village , AWC and field monitor (self).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Any answer that has the word ‘Test’ in it after submission will be automatically deleted by the server.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If you continue to fill a household section at the SAME PLACE, section 1 will not change it’s information as it is automated.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However, if you are changing location, this section needs to be filled again.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E9444A5-CBDC-C9E1-3FE2-62EF7362961E}"/>
              </a:ext>
            </a:extLst>
          </p:cNvPr>
          <p:cNvSpPr txBox="1"/>
          <p:nvPr/>
        </p:nvSpPr>
        <p:spPr>
          <a:xfrm>
            <a:off x="4634670" y="750324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Cache Deletion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92314F-8F4D-DC92-3351-43BD546BB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47669"/>
            <a:ext cx="4101712" cy="838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9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33157-CEDE-ADD3-CC1F-06AF68CE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AA0EFC-F076-8B95-4329-8904598C4158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15EA5CA-0715-ABB4-D638-7F46D58CC355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98CFACD-27E2-06C7-EB23-3FE0FC82C644}"/>
              </a:ext>
            </a:extLst>
          </p:cNvPr>
          <p:cNvSpPr txBox="1"/>
          <p:nvPr/>
        </p:nvSpPr>
        <p:spPr>
          <a:xfrm>
            <a:off x="7955980" y="2120255"/>
            <a:ext cx="6002896" cy="9116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At the end of section 1, kindly select the activity that you are there to observe. 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You can select only one activity from this and fill the corresponding questions before submitting.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To fill another section, selection of the section has to be done again from this question.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CEBA46B-F0DC-2B6D-D933-995F7810F43E}"/>
              </a:ext>
            </a:extLst>
          </p:cNvPr>
          <p:cNvSpPr txBox="1"/>
          <p:nvPr/>
        </p:nvSpPr>
        <p:spPr>
          <a:xfrm>
            <a:off x="4634670" y="750324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Section Selection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90C192-FA41-D768-B5BE-0500957B9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" y="1115730"/>
            <a:ext cx="3945956" cy="805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5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027AF-FE9C-285C-0120-015F3689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851F54-3010-D795-10F9-0CB6997773E4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4C8EBB1-3BDE-077E-30F9-718F8A0EBE6B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8F40C98-A997-FB90-9035-9AFFB4790203}"/>
              </a:ext>
            </a:extLst>
          </p:cNvPr>
          <p:cNvSpPr txBox="1"/>
          <p:nvPr/>
        </p:nvSpPr>
        <p:spPr>
          <a:xfrm>
            <a:off x="8610600" y="3086100"/>
            <a:ext cx="6002896" cy="5884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At the end of each questionnaire, after filling all the questions, the form can be submitted by clicking on the submit button as shown in the picture.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0043847-7D6E-D474-0392-45BA74DE7D5B}"/>
              </a:ext>
            </a:extLst>
          </p:cNvPr>
          <p:cNvSpPr txBox="1"/>
          <p:nvPr/>
        </p:nvSpPr>
        <p:spPr>
          <a:xfrm>
            <a:off x="4899476" y="1316340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Submission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F45C9-6C2F-D314-AB4C-22A1DEDF7E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32" y="740799"/>
            <a:ext cx="4191000" cy="856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16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12A47-8AEA-6E91-A2C9-68C83506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602504-3E4C-2F64-D551-B041117F3F74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B950971-B663-3C7C-D4DD-4F41EED7DCE7}"/>
              </a:ext>
            </a:extLst>
          </p:cNvPr>
          <p:cNvSpPr txBox="1"/>
          <p:nvPr/>
        </p:nvSpPr>
        <p:spPr>
          <a:xfrm>
            <a:off x="2209800" y="400050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600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Offline Survey Submission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757B738-ADAF-7BBC-F146-CFE13457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8038872"/>
            <a:ext cx="14363965" cy="1981428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  <a:t>For offline form submission, the screen would look as shown in the first picture.</a:t>
            </a:r>
            <a:b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</a:br>
            <a:b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</a:br>
            <a: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  <a:t>Users can save filled forms offline and upload them once the internet is available.</a:t>
            </a:r>
            <a:b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</a:br>
            <a: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1BBC8-92F3-533C-CF9C-2106F41B9E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714500"/>
            <a:ext cx="2895600" cy="5968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E2F607-19D8-33CE-B23E-2C5C3DA7F4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149" y="1704975"/>
            <a:ext cx="2958906" cy="6120553"/>
          </a:xfrm>
          <a:prstGeom prst="rect">
            <a:avLst/>
          </a:prstGeom>
        </p:spPr>
      </p:pic>
      <p:sp>
        <p:nvSpPr>
          <p:cNvPr id="9" name="Freeform 3">
            <a:extLst>
              <a:ext uri="{FF2B5EF4-FFF2-40B4-BE49-F238E27FC236}">
                <a16:creationId xmlns:a16="http://schemas.microsoft.com/office/drawing/2014/main" id="{5CA715CE-7DE8-8975-6726-0F7318D079C3}"/>
              </a:ext>
            </a:extLst>
          </p:cNvPr>
          <p:cNvSpPr/>
          <p:nvPr/>
        </p:nvSpPr>
        <p:spPr>
          <a:xfrm>
            <a:off x="4000500" y="9639300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60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2A764-8C56-8B22-BB1D-F2E8968B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F4F988-A1D3-E0FC-3B67-772FF40CD5B8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D769D6-93C6-0161-7CB9-A0BF3322D119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E737A7-2EA3-06CB-7916-B2414B4A729E}"/>
              </a:ext>
            </a:extLst>
          </p:cNvPr>
          <p:cNvSpPr txBox="1"/>
          <p:nvPr/>
        </p:nvSpPr>
        <p:spPr>
          <a:xfrm>
            <a:off x="5933913" y="2705100"/>
            <a:ext cx="10896600" cy="8577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The app also displays the daily State-wise Routine Monitoring data status in the data download section.</a:t>
            </a:r>
          </a:p>
          <a:p>
            <a:pPr algn="just">
              <a:lnSpc>
                <a:spcPts val="4200"/>
              </a:lnSpc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It displays all sections and all states separately everyday.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It can be checked for a particular day or a period of time.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This section is only visible to the state leads. Individual block co-ordinators can check their own entries.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2B90BBC-BF33-BAE1-111A-002572220E1F}"/>
              </a:ext>
            </a:extLst>
          </p:cNvPr>
          <p:cNvSpPr txBox="1"/>
          <p:nvPr/>
        </p:nvSpPr>
        <p:spPr>
          <a:xfrm>
            <a:off x="4876800" y="876300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State- wise RM data status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FE7CFE-43B8-9D4F-3A6D-A41F010DB8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127" y="876300"/>
            <a:ext cx="4273481" cy="79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6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31285" y="-1163782"/>
            <a:ext cx="12801600" cy="2327564"/>
          </a:xfrm>
          <a:custGeom>
            <a:avLst/>
            <a:gdLst/>
            <a:ahLst/>
            <a:cxnLst/>
            <a:rect l="l" t="t" r="r" b="b"/>
            <a:pathLst>
              <a:path w="12801600" h="2327564">
                <a:moveTo>
                  <a:pt x="0" y="0"/>
                </a:moveTo>
                <a:lnTo>
                  <a:pt x="12801600" y="0"/>
                </a:lnTo>
                <a:lnTo>
                  <a:pt x="12801600" y="2327564"/>
                </a:lnTo>
                <a:lnTo>
                  <a:pt x="0" y="2327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73585" y="9636696"/>
            <a:ext cx="17259300" cy="3138055"/>
          </a:xfrm>
          <a:custGeom>
            <a:avLst/>
            <a:gdLst/>
            <a:ahLst/>
            <a:cxnLst/>
            <a:rect l="l" t="t" r="r" b="b"/>
            <a:pathLst>
              <a:path w="17259300" h="3138055">
                <a:moveTo>
                  <a:pt x="0" y="0"/>
                </a:moveTo>
                <a:lnTo>
                  <a:pt x="17259300" y="0"/>
                </a:lnTo>
                <a:lnTo>
                  <a:pt x="17259300" y="3138054"/>
                </a:lnTo>
                <a:lnTo>
                  <a:pt x="0" y="313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969715" y="9258300"/>
            <a:ext cx="17259300" cy="3138055"/>
          </a:xfrm>
          <a:custGeom>
            <a:avLst/>
            <a:gdLst/>
            <a:ahLst/>
            <a:cxnLst/>
            <a:rect l="l" t="t" r="r" b="b"/>
            <a:pathLst>
              <a:path w="17259300" h="3138055">
                <a:moveTo>
                  <a:pt x="0" y="0"/>
                </a:moveTo>
                <a:lnTo>
                  <a:pt x="17259300" y="0"/>
                </a:lnTo>
                <a:lnTo>
                  <a:pt x="17259300" y="3138055"/>
                </a:lnTo>
                <a:lnTo>
                  <a:pt x="0" y="313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-82242"/>
            <a:ext cx="4059922" cy="2221885"/>
          </a:xfrm>
          <a:custGeom>
            <a:avLst/>
            <a:gdLst/>
            <a:ahLst/>
            <a:cxnLst/>
            <a:rect l="l" t="t" r="r" b="b"/>
            <a:pathLst>
              <a:path w="4059922" h="2221885">
                <a:moveTo>
                  <a:pt x="0" y="0"/>
                </a:moveTo>
                <a:lnTo>
                  <a:pt x="4059922" y="0"/>
                </a:lnTo>
                <a:lnTo>
                  <a:pt x="4059922" y="2221884"/>
                </a:lnTo>
                <a:lnTo>
                  <a:pt x="0" y="222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059922" y="3463203"/>
            <a:ext cx="12617083" cy="3042672"/>
            <a:chOff x="0" y="0"/>
            <a:chExt cx="16822778" cy="4056896"/>
          </a:xfrm>
        </p:grpSpPr>
        <p:sp>
          <p:nvSpPr>
            <p:cNvPr id="7" name="Freeform 7"/>
            <p:cNvSpPr/>
            <p:nvPr/>
          </p:nvSpPr>
          <p:spPr>
            <a:xfrm>
              <a:off x="9008561" y="311907"/>
              <a:ext cx="3433082" cy="1716541"/>
            </a:xfrm>
            <a:custGeom>
              <a:avLst/>
              <a:gdLst/>
              <a:ahLst/>
              <a:cxnLst/>
              <a:rect l="l" t="t" r="r" b="b"/>
              <a:pathLst>
                <a:path w="3433082" h="1716541">
                  <a:moveTo>
                    <a:pt x="0" y="0"/>
                  </a:moveTo>
                  <a:lnTo>
                    <a:pt x="3433082" y="0"/>
                  </a:lnTo>
                  <a:lnTo>
                    <a:pt x="3433082" y="1716541"/>
                  </a:lnTo>
                  <a:lnTo>
                    <a:pt x="0" y="1716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3997887" cy="4056896"/>
            </a:xfrm>
            <a:custGeom>
              <a:avLst/>
              <a:gdLst/>
              <a:ahLst/>
              <a:cxnLst/>
              <a:rect l="l" t="t" r="r" b="b"/>
              <a:pathLst>
                <a:path w="3997887" h="4056896">
                  <a:moveTo>
                    <a:pt x="0" y="0"/>
                  </a:moveTo>
                  <a:lnTo>
                    <a:pt x="3997887" y="0"/>
                  </a:lnTo>
                  <a:lnTo>
                    <a:pt x="3997887" y="4056896"/>
                  </a:lnTo>
                  <a:lnTo>
                    <a:pt x="0" y="4056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27427" y="1962242"/>
              <a:ext cx="12195351" cy="2094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9"/>
                </a:lnSpc>
              </a:pPr>
              <a:r>
                <a:rPr lang="en-US" sz="9399">
                  <a:solidFill>
                    <a:srgbClr val="FFF8EF"/>
                  </a:solidFill>
                  <a:latin typeface="Alice"/>
                  <a:ea typeface="Alice"/>
                  <a:cs typeface="Alice"/>
                  <a:sym typeface="Alice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586</Words>
  <Application>Microsoft Office PowerPoint</Application>
  <PresentationFormat>Custom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Arial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Any surveyor can monitor their daily survey counts by clicking on the ‘View Daily Count’ button on the top right corner of the Routine Monitoring section.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offline form submission, the screen would look as shown in the first picture.  Users can save filled forms offline and upload them once the internet is available.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 PhD Seminar-Tulika Rohilla</dc:title>
  <cp:lastModifiedBy>Tulika Rohilla</cp:lastModifiedBy>
  <cp:revision>29</cp:revision>
  <dcterms:created xsi:type="dcterms:W3CDTF">2006-08-16T00:00:00Z</dcterms:created>
  <dcterms:modified xsi:type="dcterms:W3CDTF">2025-11-10T08:54:33Z</dcterms:modified>
  <dc:identifier>DAGlqbXYDvU</dc:identifier>
</cp:coreProperties>
</file>